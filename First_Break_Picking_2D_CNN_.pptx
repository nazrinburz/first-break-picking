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0099" autoAdjust="0"/>
  </p:normalViewPr>
  <p:slideViewPr>
    <p:cSldViewPr snapToGrid="0" snapToObjects="1">
      <p:cViewPr varScale="1">
        <p:scale>
          <a:sx n="56" d="100"/>
          <a:sy n="56" d="100"/>
        </p:scale>
        <p:origin x="5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205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3365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Nazrin Burziyeva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009140"/>
            <a:ext cx="1097280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First-Break Picking with a 2D CNN</a:t>
            </a:r>
            <a:b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3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545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first-arrival detection across four real seismic assets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38938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Brunswick  ·  Halfmile  ·  Lalor  ·  Sudbury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338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Gather2DCNN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breaks are the earliest detectable seismic arrivals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307592"/>
            <a:ext cx="1554480" cy="438912"/>
          </a:xfrm>
          <a:prstGeom prst="roundRect">
            <a:avLst>
              <a:gd name="adj" fmla="val 8333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3075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21615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hammer, vibrator, or small explosive launches a wave into the near surface.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2103120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359152"/>
            <a:ext cx="1554480" cy="438912"/>
          </a:xfrm>
          <a:prstGeom prst="roundRect">
            <a:avLst>
              <a:gd name="adj" fmla="val 8333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35915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26771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receiver records a 1D time series. Before the wave arrives it is mostly noise.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3154680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410712"/>
            <a:ext cx="1554480" cy="438912"/>
          </a:xfrm>
          <a:prstGeom prst="roundRect">
            <a:avLst>
              <a:gd name="adj" fmla="val 8333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4107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33192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break is the moment energy organizes. After that, amplitude jumps.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1480" y="4206240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4462272"/>
            <a:ext cx="1554480" cy="438912"/>
          </a:xfrm>
          <a:prstGeom prst="roundRect">
            <a:avLst>
              <a:gd name="adj" fmla="val 8333"/>
            </a:avLst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4622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437083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Refraction and near-surface tomography invert these times. Bad picks corrupt velocity.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0" y="1051560"/>
            <a:ext cx="4434840" cy="51206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Moveout intuition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Farther receiver  →  later arrival.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35240" y="2103120"/>
            <a:ext cx="3794760" cy="2788920"/>
          </a:xfrm>
          <a:prstGeom prst="rect">
            <a:avLst/>
          </a:prstGeom>
          <a:solidFill>
            <a:srgbClr val="F7F4EE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92640" y="4663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0" y="21762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18120" y="2423160"/>
            <a:ext cx="64008" cy="2286000"/>
          </a:xfrm>
          <a:prstGeom prst="rect">
            <a:avLst/>
          </a:prstGeom>
          <a:solidFill>
            <a:srgbClr val="C5D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10728" y="2423160"/>
            <a:ext cx="64008" cy="2286000"/>
          </a:xfrm>
          <a:prstGeom prst="rect">
            <a:avLst/>
          </a:prstGeom>
          <a:solidFill>
            <a:srgbClr val="C5D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403336" y="2423160"/>
            <a:ext cx="64008" cy="2286000"/>
          </a:xfrm>
          <a:prstGeom prst="rect">
            <a:avLst/>
          </a:prstGeom>
          <a:solidFill>
            <a:srgbClr val="C5D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695944" y="2423160"/>
            <a:ext cx="64008" cy="2286000"/>
          </a:xfrm>
          <a:prstGeom prst="rect">
            <a:avLst/>
          </a:prstGeom>
          <a:solidFill>
            <a:srgbClr val="C5D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988552" y="2423160"/>
            <a:ext cx="64008" cy="2286000"/>
          </a:xfrm>
          <a:prstGeom prst="rect">
            <a:avLst/>
          </a:prstGeom>
          <a:solidFill>
            <a:srgbClr val="C5D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281160" y="2423160"/>
            <a:ext cx="64008" cy="2286000"/>
          </a:xfrm>
          <a:prstGeom prst="rect">
            <a:avLst/>
          </a:prstGeom>
          <a:solidFill>
            <a:srgbClr val="C5D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73768" y="2423160"/>
            <a:ext cx="64008" cy="2286000"/>
          </a:xfrm>
          <a:prstGeom prst="rect">
            <a:avLst/>
          </a:prstGeom>
          <a:solidFill>
            <a:srgbClr val="C5D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866376" y="2423160"/>
            <a:ext cx="64008" cy="2286000"/>
          </a:xfrm>
          <a:prstGeom prst="rect">
            <a:avLst/>
          </a:prstGeom>
          <a:solidFill>
            <a:srgbClr val="C5D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158984" y="2423160"/>
            <a:ext cx="64008" cy="2286000"/>
          </a:xfrm>
          <a:prstGeom prst="rect">
            <a:avLst/>
          </a:prstGeom>
          <a:solidFill>
            <a:srgbClr val="C5D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451592" y="2423160"/>
            <a:ext cx="64008" cy="2286000"/>
          </a:xfrm>
          <a:prstGeom prst="rect">
            <a:avLst/>
          </a:prstGeom>
          <a:solidFill>
            <a:srgbClr val="C5D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744200" y="2423160"/>
            <a:ext cx="64008" cy="2286000"/>
          </a:xfrm>
          <a:prstGeom prst="rect">
            <a:avLst/>
          </a:prstGeom>
          <a:solidFill>
            <a:srgbClr val="C5D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036808" y="2423160"/>
            <a:ext cx="64008" cy="2286000"/>
          </a:xfrm>
          <a:prstGeom prst="rect">
            <a:avLst/>
          </a:prstGeom>
          <a:solidFill>
            <a:srgbClr val="C5D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790688" y="2606040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083296" y="2724912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375904" y="2880360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668512" y="3063240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961120" y="3291840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253728" y="3547872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546336" y="3822192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838944" y="4114800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131552" y="4343400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0424160" y="4498848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0716768" y="4590288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1009376" y="4663440"/>
            <a:ext cx="128016" cy="128016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498080" y="50292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Lined up by offset, first breaks form a trajectory — not four independent numbers.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assets, uneven labels, real distribution shift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subset used by the final 2D run  (max_shots = 100). Full files are several times larger.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2788920" cy="32461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371600"/>
            <a:ext cx="2788920" cy="109728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Brunswick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241,546  /  293,418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3D  ·  2 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37560" y="1371600"/>
            <a:ext cx="2788920" cy="32461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37560" y="1371600"/>
            <a:ext cx="2788920" cy="109728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Halfmile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74720" y="2011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474720" y="26060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143,705  /  159,398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37947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coverage  ·  2 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1371600"/>
            <a:ext cx="2788920" cy="32461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63640" y="1371600"/>
            <a:ext cx="2788920" cy="109728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Lalor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2011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50.3%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400800" y="26060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134,952  /  268,500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37947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ms native  ·  half labeled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89720" y="1371600"/>
            <a:ext cx="2788920" cy="32461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189720" y="1371600"/>
            <a:ext cx="2788920" cy="109728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3268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Sudbury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26880" y="2011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326880" y="26060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326880" y="2926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18,293  /  174,103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326880" y="37947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labels  ·  2 ms / 2000 ms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11480" y="4754880"/>
            <a:ext cx="113842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" y="4892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that actually enter the pipeline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94360" y="5212080"/>
            <a:ext cx="11018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data_array   ·   SHOTID   ·   OFFSET   ·   SAMP_RATE   ·   SPARE1  (0 / –1 = unlabeled)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REC coordinates and COORD_SCALE are fallbacks only. The loader prefers the stored OFFSET field because raw coordinates are unusable on Sudbury (~100× scale error).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dataset is flat. The signal is spatially structured.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27432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6072" y="1325880"/>
            <a:ext cx="347472" cy="347472"/>
          </a:xfrm>
          <a:prstGeom prst="ellipse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HDF5 traces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" y="2194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array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(n_traces × n_samples)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72968" y="2011680"/>
            <a:ext cx="146304" cy="201168"/>
          </a:xfrm>
          <a:prstGeom prst="rightArrow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37560" y="1143000"/>
            <a:ext cx="27432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02152" y="1325880"/>
            <a:ext cx="347472" cy="347472"/>
          </a:xfrm>
          <a:prstGeom prst="ellipse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02152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02152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SHOTID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02152" y="2194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shot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produced each trace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99048" y="2011680"/>
            <a:ext cx="146304" cy="201168"/>
          </a:xfrm>
          <a:prstGeom prst="rightArrow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63640" y="1143000"/>
            <a:ext cx="27432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28232" y="1325880"/>
            <a:ext cx="347472" cy="347472"/>
          </a:xfrm>
          <a:prstGeom prst="ellipse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28232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28232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offset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28232" y="2194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traces left,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traces right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25128" y="2011680"/>
            <a:ext cx="146304" cy="201168"/>
          </a:xfrm>
          <a:prstGeom prst="rightArrow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189720" y="1143000"/>
            <a:ext cx="27432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354312" y="1325880"/>
            <a:ext cx="347472" cy="347472"/>
          </a:xfrm>
          <a:prstGeom prst="ellipse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354312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54312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gather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54312" y="2194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image with 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first-break trajectory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11480" y="3520440"/>
            <a:ext cx="1138428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3703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group at all?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0080" y="4114800"/>
            <a:ext cx="10972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shot is not a bag of unrelated 1D signals. Neighboring traces share a source, nearby geology, and a continuous first-break trajectory. If you throw that structure away, every later model has to rediscover moveout from a single waveform plus a scalar offset.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reorganization is data_utils.build_gathers(). It is the prerequisite for the 2D model, not a plotting convenience.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gather is forced onto one time grid and one window size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ms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sample interval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2344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samples  (~1500 ms)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097280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12344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traces per window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89720" y="1097280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26880" y="12344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32688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amplitude scale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2743200"/>
            <a:ext cx="113842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2743200"/>
            <a:ext cx="109728" cy="804672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34640" y="287121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interpolation onto 2 ms × 750. Needed because Lalor is 1 ms and Sudbury records 2000 ms.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" y="3611880"/>
            <a:ext cx="113842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3611880"/>
            <a:ext cx="109728" cy="804672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34640" y="3739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Per-trace 99.5th percentile of |amp|, then clip to ±3. Max-abs norm is wrecked by spike samples.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11480" y="4480560"/>
            <a:ext cx="113842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1480" y="4480560"/>
            <a:ext cx="109728" cy="804672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4663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834640" y="460857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gathers become 64-trace tiles. A tail window is added so the last traces are never dropped.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11480" y="5349240"/>
            <a:ext cx="113842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1480" y="5349240"/>
            <a:ext cx="109728" cy="804672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" y="5532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scale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834640" y="547725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that asset’s 99th-percentile offset.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traces stay in the gather. They just do not train the loss.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694944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64-trace window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1783080"/>
            <a:ext cx="713232" cy="2880360"/>
          </a:xfrm>
          <a:prstGeom prst="roundRect">
            <a:avLst>
              <a:gd name="adj" fmla="val 5128"/>
            </a:avLst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96696" y="1965960"/>
            <a:ext cx="73152" cy="2514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90472" y="1783080"/>
            <a:ext cx="713232" cy="2880360"/>
          </a:xfrm>
          <a:prstGeom prst="roundRect">
            <a:avLst>
              <a:gd name="adj" fmla="val 5128"/>
            </a:avLst>
          </a:prstGeom>
          <a:solidFill>
            <a:srgbClr val="2B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01368" y="1965960"/>
            <a:ext cx="73152" cy="2514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95144" y="1783080"/>
            <a:ext cx="713232" cy="2880360"/>
          </a:xfrm>
          <a:prstGeom prst="roundRect">
            <a:avLst>
              <a:gd name="adj" fmla="val 5128"/>
            </a:avLst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06040" y="1965960"/>
            <a:ext cx="73152" cy="2514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099816" y="1783080"/>
            <a:ext cx="713232" cy="2880360"/>
          </a:xfrm>
          <a:prstGeom prst="roundRect">
            <a:avLst>
              <a:gd name="adj" fmla="val 5128"/>
            </a:avLst>
          </a:prstGeom>
          <a:solidFill>
            <a:srgbClr val="2B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10712" y="1965960"/>
            <a:ext cx="73152" cy="2514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04488" y="1783080"/>
            <a:ext cx="713232" cy="2880360"/>
          </a:xfrm>
          <a:prstGeom prst="roundRect">
            <a:avLst>
              <a:gd name="adj" fmla="val 5128"/>
            </a:avLst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15384" y="1965960"/>
            <a:ext cx="73152" cy="2514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1783080"/>
            <a:ext cx="713232" cy="2880360"/>
          </a:xfrm>
          <a:prstGeom prst="roundRect">
            <a:avLst>
              <a:gd name="adj" fmla="val 5128"/>
            </a:avLst>
          </a:prstGeom>
          <a:solidFill>
            <a:srgbClr val="B8B2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0056" y="1965960"/>
            <a:ext cx="73152" cy="2514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13832" y="1783080"/>
            <a:ext cx="713232" cy="2880360"/>
          </a:xfrm>
          <a:prstGeom prst="roundRect">
            <a:avLst>
              <a:gd name="adj" fmla="val 5128"/>
            </a:avLst>
          </a:prstGeom>
          <a:solidFill>
            <a:srgbClr val="B8B2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24728" y="1965960"/>
            <a:ext cx="73152" cy="2514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18504" y="1783080"/>
            <a:ext cx="713232" cy="2880360"/>
          </a:xfrm>
          <a:prstGeom prst="roundRect">
            <a:avLst>
              <a:gd name="adj" fmla="val 5128"/>
            </a:avLst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29400" y="1965960"/>
            <a:ext cx="73152" cy="2514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8006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mask = 1 for every real column, 0 for padding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mask = 1 only on green columns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4406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columns are context. They never enter masked MAE.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43800" y="1097280"/>
            <a:ext cx="425196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26680" y="12801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mask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726680" y="169164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slot a real seismic trace or padding?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mask is an input channel. The network can see where the gather ends.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43800" y="3703320"/>
            <a:ext cx="425196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26680" y="38862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mask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26680" y="4297680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real trace have a SPARE1 time?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mask is loss-only. Dropping unlabeled traces would throw away the neighbors the 2D kernel needs.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1D baseline treats every trace as an isolated regression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56692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FBPickerCNN  ·  historical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 +  offset   →   time (ms)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52120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Conv1D blocks, AdaptiveMaxPool1d(4), dense head. Offset is concatenated only at the head. No neighboring traces. No gather image.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milliseconds directly so the training loss equals the evaluation metric.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as motivation. Not the contribution of this talk.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5440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leave-one-asset-out 1D MAE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828800"/>
          <a:ext cx="4983480" cy="237744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asset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Brunswick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108.64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Halfmile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131.21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Lalor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20.73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Sudbury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18.34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537960" y="44348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protocol from the final 2D benchmark. Do not subtract these from 13.20 ms. The message is cross-asset variation, not a bake-off.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Neighboring traces already contain the first-break trajectory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5532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1920240"/>
            <a:ext cx="4800600" cy="822960"/>
          </a:xfrm>
          <a:prstGeom prst="roundRect">
            <a:avLst>
              <a:gd name="adj" fmla="val 5556"/>
            </a:avLst>
          </a:prstGeom>
          <a:solidFill>
            <a:srgbClr val="EBE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1920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 →  prediction 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4800600" cy="822960"/>
          </a:xfrm>
          <a:prstGeom prst="roundRect">
            <a:avLst>
              <a:gd name="adj" fmla="val 5556"/>
            </a:avLst>
          </a:prstGeom>
          <a:solidFill>
            <a:srgbClr val="EBE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2971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B  →  prediction 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" y="4023360"/>
            <a:ext cx="4800600" cy="822960"/>
          </a:xfrm>
          <a:prstGeom prst="roundRect">
            <a:avLst>
              <a:gd name="adj" fmla="val 5556"/>
            </a:avLst>
          </a:prstGeom>
          <a:solidFill>
            <a:srgbClr val="EBE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4023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  →  prediction C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1143000"/>
            <a:ext cx="5532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1325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1920240"/>
            <a:ext cx="2194560" cy="3017520"/>
          </a:xfrm>
          <a:prstGeom prst="roundRect">
            <a:avLst>
              <a:gd name="adj" fmla="val 2083"/>
            </a:avLst>
          </a:prstGeom>
          <a:solidFill>
            <a:srgbClr val="EBE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940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823960" y="3154680"/>
            <a:ext cx="640080" cy="256032"/>
          </a:xfrm>
          <a:prstGeom prst="rightArrow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55480" y="2331720"/>
            <a:ext cx="1965960" cy="2194560"/>
          </a:xfrm>
          <a:prstGeom prst="roundRect">
            <a:avLst>
              <a:gd name="adj" fmla="val 2326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55480" y="2468880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CNN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pick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512064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continuity is visible to the kernel.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model predicts one first break time per trace, in milliseconds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113842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[B,  3,  64,  750]          →          Output  [B,  64]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   ·    channels    ·    traces    ·    time samples                         one millisecond pick per trace slot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926080"/>
            <a:ext cx="27889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94360" y="38862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/ windows in the batch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37560" y="2926080"/>
            <a:ext cx="27889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900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520440" y="38862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waveform, offset, trace mask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2926080"/>
            <a:ext cx="27889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46520" y="38862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axis is never pooled away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89720" y="2926080"/>
            <a:ext cx="27889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81160" y="3108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372600" y="38862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ms samples, ~1500 ms window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5120640"/>
            <a:ext cx="11384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 live on neighboring traces × nearby time. That is the entire methodological bet.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channels: waveform, geometry, and ‘is this real?’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113842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965960" y="12801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waveform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65960" y="169164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amplitude after robust percentile scaling and ±3 clip. This is the onset pattern the network has to find.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2743200"/>
            <a:ext cx="113842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965960" y="2926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offset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65960" y="33375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Source–receiver distance, tiled across time, scaled by the training 99th percentile for that asset. Auxiliary geometry, not a travel-time solver.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11480" y="4389120"/>
            <a:ext cx="113842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51560" cy="777240"/>
          </a:xfrm>
          <a:prstGeom prst="roundRect">
            <a:avLst>
              <a:gd name="adj" fmla="val 7059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965960" y="45720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/ padding mask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65960" y="498348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across real traces, zero across padding. Stops the network from treating zeros on the right as silent earth.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Gather2DCNN keeps the trace axis and compresses time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1243584" cy="1691640"/>
          </a:xfrm>
          <a:prstGeom prst="roundRect">
            <a:avLst>
              <a:gd name="adj" fmla="val 3676"/>
            </a:avLst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280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201168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64 × 750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81912" y="1143000"/>
            <a:ext cx="1243584" cy="1691640"/>
          </a:xfrm>
          <a:prstGeom prst="roundRect">
            <a:avLst>
              <a:gd name="adj" fmla="val 3676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81912" y="1280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5×9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18488" y="201168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16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07792" y="1143000"/>
            <a:ext cx="1243584" cy="1691640"/>
          </a:xfrm>
          <a:prstGeom prst="roundRect">
            <a:avLst>
              <a:gd name="adj" fmla="val 3676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07792" y="1280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1×2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44368" y="201168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33672" y="1143000"/>
            <a:ext cx="1243584" cy="1691640"/>
          </a:xfrm>
          <a:prstGeom prst="roundRect">
            <a:avLst>
              <a:gd name="adj" fmla="val 3676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33672" y="1280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5×7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70248" y="201168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→ 32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59552" y="1143000"/>
            <a:ext cx="1243584" cy="1691640"/>
          </a:xfrm>
          <a:prstGeom prst="roundRect">
            <a:avLst>
              <a:gd name="adj" fmla="val 3676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59552" y="1280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1×2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96128" y="201168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85432" y="1143000"/>
            <a:ext cx="1243584" cy="1691640"/>
          </a:xfrm>
          <a:prstGeom prst="roundRect">
            <a:avLst>
              <a:gd name="adj" fmla="val 3676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85432" y="1280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22008" y="201168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→ 64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11312" y="1143000"/>
            <a:ext cx="1243584" cy="1691640"/>
          </a:xfrm>
          <a:prstGeom prst="roundRect">
            <a:avLst>
              <a:gd name="adj" fmla="val 3676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11312" y="1280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47888" y="201168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→ 64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37192" y="1143000"/>
            <a:ext cx="1243584" cy="1691640"/>
          </a:xfrm>
          <a:prstGeom prst="roundRect">
            <a:avLst>
              <a:gd name="adj" fmla="val 3676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37192" y="1280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pool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73768" y="201168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× 4 bins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863072" y="1143000"/>
            <a:ext cx="1243584" cy="1691640"/>
          </a:xfrm>
          <a:prstGeom prst="roundRect">
            <a:avLst>
              <a:gd name="adj" fmla="val 3676"/>
            </a:avLst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863072" y="12801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899648" y="201168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→ 64 → 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3063240"/>
            <a:ext cx="55321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preserved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" y="3703320"/>
            <a:ext cx="5074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dimension H is never pooled. MaxPool kernels are (1, 2): time shrinks, neighbors stay aligned.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average pooling keeps four coarse time regions so the head still knows early versus late.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64 numbers, milliseconds.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172200" y="3063240"/>
            <a:ext cx="562356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0" y="3246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claimed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0800" y="3703320"/>
            <a:ext cx="5212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U-Net, not a picker head over every time sample, and not a physics solver.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model_2d.py: base_ch = 16, pool_k = 4, BatchNorm + ReLU after each conv.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paste the Python onto the slide.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split by shot so neighboring traces cannot leak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70408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protocol: in-domain, shot-level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583680" cy="2468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Brunswick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Halfmile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Lalor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Sudbury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44805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happens before windows are cut. Checkpoint stores every SHOTID so inference can say TRAIN / VAL / TEST / UNSEEN.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680960" y="1097280"/>
            <a:ext cx="4114800" cy="521208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786384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863840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20 epochs max, patience 5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63840" y="23591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batch size 32, seed 42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63840" y="28895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max_shots 100 per asset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863840" y="34198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Adam, lr 1e-3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863840" y="3950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masked MAE on labeled traces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863840" y="4480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asset-balanced sampler 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863840" y="50109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best epoch restored before save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MAE bottoms out at 16.09 ms on epoch 16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20</a:t>
            </a:r>
            <a:endParaRPr lang="en-US" sz="1000" dirty="0"/>
          </a:p>
        </p:txBody>
      </p:sp>
      <p:pic>
        <p:nvPicPr>
          <p:cNvPr id="8" name="Image 0" descr="/home/workdir/artifacts/project/fbpick_2d_final_in_domai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7589520" cy="5212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138160" y="1097280"/>
            <a:ext cx="3611880" cy="51663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321040" y="12801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curve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21040" y="182880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MAE falls quickly, then plateaus near 15 ms.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21040" y="29260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is noisier early, then tracks train after epoch 12.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321040" y="402336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checkpoint: epoch 16, val MAE 16.09 ms. Early stopping patience is 5.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321040" y="5394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73.7 s / epoch on CUDA.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held-out test MAE is 13.20 ms, not the validation number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3794760" cy="521208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13.20 ms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56,195 labeled traces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held-out shots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794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 7.69 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425196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is pulled by a long tail. Most picks are tighter than 13 ms.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34840" y="1097280"/>
            <a:ext cx="2377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34840" y="1325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3484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±4 ms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0" y="1097280"/>
            <a:ext cx="2377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1325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4944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±8 ms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464040" y="1097280"/>
            <a:ext cx="2377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64040" y="1325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76.2%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46404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±16 ms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34840" y="3429000"/>
            <a:ext cx="73609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3611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say this out loud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63440" y="4069080"/>
            <a:ext cx="6903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was 16.09 ms on 75,964 labeled traces. Test is better, not worse. That can happen when the val shots are simply harder; it is not a license to tune on test.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r>
              <a:rPr lang="en-US" sz="1600" dirty="0"/>
              <a:t>These tolerance percentages give a more informative view of picking accuracy than MAE alone.</a:t>
            </a: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picker that is close most of the time beats a picker that is mediocre everywhere.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differ in labels, sampling, and first-break behavior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2D report publishes pooled metrics only. Per-asset structure still explains where errors should live.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2788920" cy="288036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2788920" cy="91440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Brunswick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2514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loaded subset. 82.3% labeled. Shots with 2k–3k traces, so many 64-trace windows per gather.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1417320"/>
            <a:ext cx="2788920" cy="288036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37560" y="1417320"/>
            <a:ext cx="2788920" cy="91440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Halfmile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2103120"/>
            <a:ext cx="2514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label coverage at 90.2%. Historical 1D LOO was the worst (131 ms) — in-domain ≠ transfer.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2788920" cy="288036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63640" y="1417320"/>
            <a:ext cx="2788920" cy="91440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103120"/>
            <a:ext cx="2514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ms survey, 50.3% labeled, highly variable traces/shot including near-empty IDs.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89720" y="1417320"/>
            <a:ext cx="2788920" cy="288036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89720" y="1417320"/>
            <a:ext cx="2788920" cy="9144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2688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Sudbury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0" y="2103120"/>
            <a:ext cx="2514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 labeled, 2000 ms records, broken raw coordinates. Fewest test shots (6).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4480560"/>
            <a:ext cx="11384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invent a per-asset 2D MAE. It is not in fbpick_2d_final.txt.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say: Sudbury contributes the fewest labels, Lalor is the resample edge case, and historical 1D leave-one-out already proved that pooling four names does not make them one distribution.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TEST shot, Brunswick 1152, scores 14.09 ms MAE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20</a:t>
            </a:r>
            <a:endParaRPr lang="en-US" sz="1000" dirty="0"/>
          </a:p>
        </p:txBody>
      </p:sp>
      <p:pic>
        <p:nvPicPr>
          <p:cNvPr id="8" name="Image 0" descr="/home/workdir/artifacts/project/inference_brunswick_tes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7955280" cy="5440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097280"/>
            <a:ext cx="3429000" cy="52120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4964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example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4964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SHOTID 1152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54964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= TEST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54964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7840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3,299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549640" y="2761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784080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2,649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49640" y="31455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784080" y="3145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14.09 ms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549640" y="35295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784080" y="35295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7.86 ms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549640" y="3913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 ms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784080" y="3913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28.3%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54964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±8 ms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78408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549640" y="4681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±16 ms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78408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73.1%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loads one shot, not the entire seismic cube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3657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502920" cy="502920"/>
          </a:xfrm>
          <a:prstGeom prst="ellipse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SHOTID index only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51960" y="1143000"/>
            <a:ext cx="3657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34840" y="1783080"/>
            <a:ext cx="502920" cy="502920"/>
          </a:xfrm>
          <a:prstGeom prst="ellipse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348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TRAIN / VAL / TEST / UNSEEN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2440" y="1143000"/>
            <a:ext cx="3657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75320" y="1783080"/>
            <a:ext cx="502920" cy="502920"/>
          </a:xfrm>
          <a:prstGeom prst="ellipse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753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15400" y="1645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matching rows from data_array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1480" y="3291840"/>
            <a:ext cx="3657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3931920"/>
            <a:ext cx="502920" cy="502920"/>
          </a:xfrm>
          <a:prstGeom prst="ellipse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7947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gather, resample, normalize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1960" y="3291840"/>
            <a:ext cx="3657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34840" y="3931920"/>
            <a:ext cx="502920" cy="502920"/>
          </a:xfrm>
          <a:prstGeom prst="ellipse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348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74920" y="37947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Window, predict, average overlaps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92440" y="3291840"/>
            <a:ext cx="3657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75320" y="3931920"/>
            <a:ext cx="502920" cy="502920"/>
          </a:xfrm>
          <a:prstGeom prst="ellipse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753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15400" y="37947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labels if SPARE1 exists, plot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 is in-domain. Cross-asset transfer is unfinished.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 only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2D numbers use shot splits inside assets the model already saw.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109728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Sudbury sparsity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21031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 labels and six test shots. That asset is under-constrained.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109728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7532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windows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320" y="21031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traces is a neighborhood, not a 3,000-trace gather.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365760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4160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geometry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46634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offset, not full source/receiver layout or a travel-time prior.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51960" y="365760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3484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34840" y="4160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resample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34840" y="46634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anti-alias filter on Lalor 1 ms → 2 ms. Defensible, not perfect.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92440" y="365760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7532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4160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leakage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75320" y="46634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3D shots can still share near-surface geology. Not a block split.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Cross-asset evaluation is the next experiment, not a new slogan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1234440" cy="54864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Gather-level 2D CNN  ·  seismic first-break picking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/  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11384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051560"/>
            <a:ext cx="109728" cy="749808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12471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Leave-one-asset-out 2D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0" y="1124712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train_2d.py --mode leave_one_out already exists. Report it as a separate table.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1874520"/>
            <a:ext cx="11384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1874520"/>
            <a:ext cx="109728" cy="749808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194767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Spatial-block splits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0" y="1947672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source-coordinate regions instead of random SHOTIDs.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2697480"/>
            <a:ext cx="11384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2697480"/>
            <a:ext cx="109728" cy="749808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277063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geometry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2770632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receiver coordinates, or a simple moveout prior, beyond scalar offset.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1480" y="3520440"/>
            <a:ext cx="11384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520440"/>
            <a:ext cx="109728" cy="749808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359359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context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06240" y="3593592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windows or a gather encoder that sees more than 64 traces.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" y="4343400"/>
            <a:ext cx="11384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4343400"/>
            <a:ext cx="109728" cy="749808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41655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maps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06240" y="4416552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probability instead of a single regression — a confidence signal comes free.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11480" y="5166360"/>
            <a:ext cx="11384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1480" y="5166360"/>
            <a:ext cx="109728" cy="749808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523951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QC loop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06240" y="5239512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picker on unlabeled traces and spot-check. That is the product.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gather is a 2D object. The picker should use that.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0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13.20 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08960" y="11430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in-domain test MAE on 56,195 labeled traces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0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16.09 ms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08960" y="19202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MAE, epoch 16 — used only to pick weights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0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14.09 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08960" y="26974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Brunswick TEST shot 1152, confirmed held-out before inference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for figures and numbers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fbpick_2d_final.txt  ·  fbpick_2d_final_in_domain_curve.png  ·  inference_brunswick_test0.png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model_2d.py  ·  gather_dataset_2d.py  ·  train_2d.py  ·  inference_2d.py  ·  data_utils.py  ·  resample.py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only: model.py, *_450 summaries, baseline/, 1D leave-one-asset-out table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 is not deployment on an unseen asset. That experiment is next.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2260</Words>
  <Application>Microsoft Office PowerPoint</Application>
  <PresentationFormat>Widescreen</PresentationFormat>
  <Paragraphs>379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Nazrin Burziyeva</dc:creator>
  <cp:lastModifiedBy>Nazrin Burziyeva</cp:lastModifiedBy>
  <cp:revision>2</cp:revision>
  <dcterms:created xsi:type="dcterms:W3CDTF">2026-09-09T18:33:03Z</dcterms:created>
  <dcterms:modified xsi:type="dcterms:W3CDTF">2026-09-09T18:34:42Z</dcterms:modified>
</cp:coreProperties>
</file>